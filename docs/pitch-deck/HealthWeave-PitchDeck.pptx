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0" y="-914400"/>
            <a:ext cx="5486400" cy="4572000"/>
          </a:xfrm>
          <a:prstGeom prst="rect">
            <a:avLst/>
          </a:prstGeom>
          <a:solidFill>
            <a:srgbClr val="001A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solidFill>
            <a:srgbClr val="0066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4754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HealthWeave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2011680" cy="274320"/>
          </a:xfrm>
          <a:prstGeom prst="rect">
            <a:avLst/>
          </a:prstGeom>
          <a:solidFill>
            <a:srgbClr val="002A55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769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4FF"/>
                </a:solidFill>
              </a:rPr>
              <a:t>SEED ROUND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Your Lifelong Health Memory,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0D4FF"/>
                </a:solidFill>
              </a:rPr>
              <a:t>Powered by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HealthWeave is the first AI-native Personal Health Intelligence Platform —
unifying every medical record, biomarker, and health event into a
living, reasoning knowledge graph.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51960"/>
            <a:ext cx="1920240" cy="292608"/>
          </a:xfrm>
          <a:prstGeom prst="rect">
            <a:avLst/>
          </a:prstGeom>
          <a:solidFill>
            <a:srgbClr val="0D1730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27024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India-first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4251960"/>
            <a:ext cx="1920240" cy="292608"/>
          </a:xfrm>
          <a:prstGeom prst="rect">
            <a:avLst/>
          </a:prstGeom>
          <a:solidFill>
            <a:srgbClr val="0D1730"/>
          </a:solidFill>
          <a:ln w="9525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427024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66FF"/>
                </a:solidFill>
              </a:rPr>
              <a:t>Generative AI + RAG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79" y="4251960"/>
            <a:ext cx="1920240" cy="292608"/>
          </a:xfrm>
          <a:prstGeom prst="rect">
            <a:avLst/>
          </a:prstGeom>
          <a:solidFill>
            <a:srgbClr val="0D1730"/>
          </a:solidFill>
          <a:ln w="9525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427024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5A0"/>
                </a:solidFill>
              </a:rPr>
              <a:t>$1.5M Seed Ask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7999" y="4251960"/>
            <a:ext cx="1920240" cy="292608"/>
          </a:xfrm>
          <a:prstGeom prst="rect">
            <a:avLst/>
          </a:prstGeom>
          <a:solidFill>
            <a:srgbClr val="0D1730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7999" y="427024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</a:rPr>
              <a:t>Healthcare × 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754880"/>
            <a:ext cx="11430000" cy="12700"/>
          </a:xfrm>
          <a:prstGeom prst="rect">
            <a:avLst/>
          </a:prstGeom>
          <a:solidFill>
            <a:srgbClr val="1E2D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937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</a:rPr>
              <a:t>1.4B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94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Population Addressable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937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</a:rPr>
              <a:t>$8.6B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394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India Digital Health TAM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937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</a:rPr>
              <a:t>27%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394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Sector CAGR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937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</a:rPr>
              <a:t>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5394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AI-Powered Features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2011680" cy="274320"/>
          </a:xfrm>
          <a:prstGeom prst="rect">
            <a:avLst/>
          </a:prstGeom>
          <a:solidFill>
            <a:srgbClr val="002A55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97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4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India's healthcare data is shattered
into a million pieces.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1.4 billion people. Thousands of hospitals. Zero continuity. Every patient starts from zero with every doctor.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3566160" cy="1920240"/>
          </a:xfrm>
          <a:prstGeom prst="rect">
            <a:avLst/>
          </a:prstGeom>
          <a:solidFill>
            <a:srgbClr val="1A0606"/>
          </a:solidFill>
          <a:ln w="9525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Fragmented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Reports scattered across WhatsApp, paper files, CDs,
and 10+ clinic portals. No single source of truth.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2194560"/>
            <a:ext cx="3566160" cy="1920240"/>
          </a:xfrm>
          <a:prstGeom prst="rect">
            <a:avLst/>
          </a:prstGeom>
          <a:solidFill>
            <a:srgbClr val="1A0606"/>
          </a:solidFill>
          <a:ln w="9525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39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39" y="2743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Zero Longitudinal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39" y="30632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Each doctor visit starts blind. Patterns across 5 years
of labs are invisible. Preventable conditions go undetected.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2194560"/>
            <a:ext cx="3566160" cy="1920240"/>
          </a:xfrm>
          <a:prstGeom prst="rect">
            <a:avLst/>
          </a:prstGeom>
          <a:solidFill>
            <a:srgbClr val="1A0606"/>
          </a:solidFill>
          <a:ln w="9525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743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Reactive, Not Preventive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30632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80% of healthcare spend happens in crises that could
have been predicted 6–18 months earlier with trend data.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51960"/>
            <a:ext cx="5303520" cy="1325880"/>
          </a:xfrm>
          <a:prstGeom prst="rect">
            <a:avLst/>
          </a:prstGeom>
          <a:solidFill>
            <a:srgbClr val="071228"/>
          </a:solidFill>
          <a:ln w="1905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3891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2E8F0"/>
                </a:solidFill>
              </a:rPr>
              <a:t>"I've had the same blood pressure problem for 3 years. Every new doctor
asks me to repeat all the tests — as if I'm a brand new patient."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1206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— Ramesh K., 54, Bangalore (user interview)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4251960"/>
            <a:ext cx="5943600" cy="384048"/>
          </a:xfrm>
          <a:prstGeom prst="rect">
            <a:avLst/>
          </a:prstGeom>
          <a:solidFill>
            <a:srgbClr val="0D1730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9632" y="42793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Average time to find old 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42793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87171"/>
                </a:solidFill>
              </a:rPr>
              <a:t>47 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4709160"/>
            <a:ext cx="5943600" cy="384048"/>
          </a:xfrm>
          <a:prstGeom prst="rect">
            <a:avLst/>
          </a:prstGeom>
          <a:solidFill>
            <a:srgbClr val="0D1730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9632" y="47365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Duplicate diagnostic tests ordered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47365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87171"/>
                </a:solidFill>
              </a:rPr>
              <a:t>₹12,000/yr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5166360"/>
            <a:ext cx="5943600" cy="384048"/>
          </a:xfrm>
          <a:prstGeom prst="rect">
            <a:avLst/>
          </a:prstGeom>
          <a:solidFill>
            <a:srgbClr val="0D1730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51937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Preventable chronic disease burden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51937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87171"/>
                </a:solidFill>
              </a:rPr>
              <a:t>$53B/yr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2011680" cy="274320"/>
          </a:xfrm>
          <a:prstGeom prst="rect">
            <a:avLst/>
          </a:prstGeom>
          <a:solidFill>
            <a:srgbClr val="002A55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97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4FF"/>
                </a:solidFill>
              </a:rPr>
              <a:t>CORE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Health data is not a storage problem.
It's an intelligence problem.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The solution isn't another file cabinet — it's a reasoning engine that connects dots across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6400800" cy="896112"/>
          </a:xfrm>
          <a:prstGeom prst="rect">
            <a:avLst/>
          </a:prstGeom>
          <a:solidFill>
            <a:srgbClr val="0D1730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3591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2286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Connected Biomarkers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578608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Hemoglobin drops after antibiotics. Creatinine rises alongside BP spikes.
HealthWeave sees these invisible threads.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00400"/>
            <a:ext cx="6400800" cy="896112"/>
          </a:xfrm>
          <a:prstGeom prst="rect">
            <a:avLst/>
          </a:prstGeom>
          <a:solidFill>
            <a:srgbClr val="0D1730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3649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3291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Longitudinal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584448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 single HbA1c of 6.1% looks normal. Three consecutive readings trending
up over 18 months is a warning signal.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06240"/>
            <a:ext cx="6400800" cy="896112"/>
          </a:xfrm>
          <a:prstGeom prst="rect">
            <a:avLst/>
          </a:prstGeom>
          <a:solidFill>
            <a:srgbClr val="0D1730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3708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297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Medicine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4590288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Which medicine affected which biomarker, when, and how much —
correlated automatically from your own health history.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212080"/>
            <a:ext cx="6400800" cy="896112"/>
          </a:xfrm>
          <a:prstGeom prst="rect">
            <a:avLst/>
          </a:prstGeom>
          <a:solidFill>
            <a:srgbClr val="0D1730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3766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5303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Predictive Prevention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5596128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Detect metabolic syndrome, pre-diabetes, and cardiovascular risk
12–18 months before conventional diagnosis.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2103120"/>
            <a:ext cx="4572000" cy="3840480"/>
          </a:xfrm>
          <a:prstGeom prst="rect">
            <a:avLst/>
          </a:prstGeom>
          <a:solidFill>
            <a:srgbClr val="0D1730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228600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📊  36-Month Biomarker Trend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697480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AI-detected anomaly at month 8 → predictive trend
arrow showing risk trajectory — invisible to
single-visit doctors looking at one data point.
HealthWeave correlates 40+ biomarkers across
every test ever uploaded to surface the signal.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4864608"/>
            <a:ext cx="320040" cy="438912"/>
          </a:xfrm>
          <a:prstGeom prst="rect">
            <a:avLst/>
          </a:prstGeom>
          <a:solidFill>
            <a:srgbClr val="94A3B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27848" y="4754880"/>
            <a:ext cx="320040" cy="548640"/>
          </a:xfrm>
          <a:prstGeom prst="rect">
            <a:avLst/>
          </a:prstGeom>
          <a:solidFill>
            <a:srgbClr val="94A3B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57615" y="4700016"/>
            <a:ext cx="320040" cy="603504"/>
          </a:xfrm>
          <a:prstGeom prst="rect">
            <a:avLst/>
          </a:prstGeom>
          <a:solidFill>
            <a:srgbClr val="94A3B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87384" y="4732935"/>
            <a:ext cx="320040" cy="570585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17151" y="4590288"/>
            <a:ext cx="320040" cy="713232"/>
          </a:xfrm>
          <a:prstGeom prst="rect">
            <a:avLst/>
          </a:prstGeom>
          <a:solidFill>
            <a:srgbClr val="0066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46919" y="4513479"/>
            <a:ext cx="320040" cy="790041"/>
          </a:xfrm>
          <a:prstGeom prst="rect">
            <a:avLst/>
          </a:prstGeom>
          <a:solidFill>
            <a:srgbClr val="0066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76688" y="4425696"/>
            <a:ext cx="320040" cy="877824"/>
          </a:xfrm>
          <a:prstGeom prst="rect">
            <a:avLst/>
          </a:prstGeom>
          <a:solidFill>
            <a:srgbClr val="00D4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506455" y="4337914"/>
            <a:ext cx="320040" cy="965606"/>
          </a:xfrm>
          <a:prstGeom prst="rect">
            <a:avLst/>
          </a:prstGeom>
          <a:solidFill>
            <a:srgbClr val="00D4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936224" y="4261105"/>
            <a:ext cx="320040" cy="1042415"/>
          </a:xfrm>
          <a:prstGeom prst="rect">
            <a:avLst/>
          </a:prstGeom>
          <a:solidFill>
            <a:srgbClr val="00E5A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54864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Monthly biomarker readings →  trend +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2011680" cy="274320"/>
          </a:xfrm>
          <a:prstGeom prst="rect">
            <a:avLst/>
          </a:prstGeom>
          <a:solidFill>
            <a:srgbClr val="002A55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97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4FF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HealthWeave: AI that knows your health
better than you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One platform. Every record. Lifelong intelligence. Built for India, ready for the world.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2468880" cy="1298448"/>
          </a:xfrm>
          <a:prstGeom prst="rect">
            <a:avLst/>
          </a:prstGeom>
          <a:solidFill>
            <a:srgbClr val="0D1730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2402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5176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Health Timeline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Every test, visit, prescription on a unified visual timeline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148840"/>
            <a:ext cx="2468880" cy="1298448"/>
          </a:xfrm>
          <a:prstGeom prst="rect">
            <a:avLst/>
          </a:prstGeom>
          <a:solidFill>
            <a:srgbClr val="0D1730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22402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265176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Health Chat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Claude-powered RAG — ask anything about your own history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59" y="2148840"/>
            <a:ext cx="2468880" cy="1298448"/>
          </a:xfrm>
          <a:prstGeom prst="rect">
            <a:avLst/>
          </a:prstGeom>
          <a:solidFill>
            <a:srgbClr val="0D1730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61887" y="22402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1887" y="265176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Correlation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7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Automatic biomarker ↔ medicine ↔ symptom correlations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19" y="2148840"/>
            <a:ext cx="2468880" cy="1298448"/>
          </a:xfrm>
          <a:prstGeom prst="rect">
            <a:avLst/>
          </a:prstGeom>
          <a:solidFill>
            <a:srgbClr val="0D1730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13647" y="22402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7" y="265176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Predictive Alerts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7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Risk detection 12–18 months before clinical diagnosis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566160"/>
            <a:ext cx="2468880" cy="1298448"/>
          </a:xfrm>
          <a:prstGeom prst="rect">
            <a:avLst/>
          </a:prstGeom>
          <a:solidFill>
            <a:srgbClr val="0D1730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657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0690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Doctor 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343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Pre-visit AI briefing — so every doctor knows your story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3566160"/>
            <a:ext cx="2468880" cy="1298448"/>
          </a:xfrm>
          <a:prstGeom prst="rect">
            <a:avLst/>
          </a:prstGeom>
          <a:solidFill>
            <a:srgbClr val="0D1730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10128" y="3657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40690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Emergency Passport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0128" y="4343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QR-code medical ID accessible by any ER, instantly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59" y="3566160"/>
            <a:ext cx="2468880" cy="1298448"/>
          </a:xfrm>
          <a:prstGeom prst="rect">
            <a:avLst/>
          </a:prstGeom>
          <a:solidFill>
            <a:srgbClr val="0D1730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61887" y="3657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👨‍👩‍👧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61887" y="40690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Family Graph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61887" y="4343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Manage health records for your entire household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03919" y="3566160"/>
            <a:ext cx="2468880" cy="1298448"/>
          </a:xfrm>
          <a:prstGeom prst="rect">
            <a:avLst/>
          </a:prstGeom>
          <a:solidFill>
            <a:srgbClr val="0D1730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13647" y="3657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13647" y="40690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Smart OCR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13647" y="4343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Scan handwritten prescriptions &amp; PDF lab reports instantly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2011680" cy="274320"/>
          </a:xfrm>
          <a:prstGeom prst="rect">
            <a:avLst/>
          </a:prstGeom>
          <a:solidFill>
            <a:srgbClr val="002A55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97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4FF"/>
                </a:solidFill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 $550B global opportunity anchored
in a $8.6B India market.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Digital health is the fastest-growing segment in tech, with India at the epicenter of the next wave.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3657600" cy="1828800"/>
          </a:xfrm>
          <a:prstGeom prst="rect">
            <a:avLst/>
          </a:prstGeom>
          <a:solidFill>
            <a:srgbClr val="0D1730"/>
          </a:solidFill>
          <a:ln w="1524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24028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TAM — GLOBAL DIGITAL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87168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66FF"/>
                </a:solidFill>
              </a:rPr>
              <a:t>$551B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by 2027 · CAGR 15.8%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103120"/>
            <a:ext cx="3657600" cy="1828800"/>
          </a:xfrm>
          <a:prstGeom prst="rect">
            <a:avLst/>
          </a:prstGeom>
          <a:solidFill>
            <a:srgbClr val="0D1730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24028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SAM — INDIA DIGITAL HEALTH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487168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D4FF"/>
                </a:solidFill>
              </a:rPr>
              <a:t>$8.6B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108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by 2025 · CAGR 27%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103120"/>
            <a:ext cx="3657600" cy="1828800"/>
          </a:xfrm>
          <a:prstGeom prst="rect">
            <a:avLst/>
          </a:prstGeom>
          <a:solidFill>
            <a:srgbClr val="0D1730"/>
          </a:solidFill>
          <a:ln w="1524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24028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SOM — PHR + AI INSIGHTS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487168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E5A0"/>
                </a:solidFill>
              </a:rPr>
              <a:t>$420M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108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India addressable 2027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14800"/>
            <a:ext cx="5669280" cy="2377440"/>
          </a:xfrm>
          <a:prstGeom prst="rect">
            <a:avLst/>
          </a:prstGeom>
          <a:solidFill>
            <a:srgbClr val="0D1730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22452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Market Drivers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ABDM mandate for digital health records — Govt. tailwind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1947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800M+ smartphones; 5G rollout accelerating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26694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COVID-19 accelerated digital health adoption by 5 years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61441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77M diabetics, 200M+ hypertensive — chronic disease surge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9618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Growing health-aware urban middle class, disposable income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114800"/>
            <a:ext cx="5486400" cy="2377440"/>
          </a:xfrm>
          <a:prstGeom prst="rect">
            <a:avLst/>
          </a:prstGeom>
          <a:solidFill>
            <a:srgbClr val="0D1730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22452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A0"/>
                </a:solidFill>
              </a:rPr>
              <a:t>Revenue Streams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6177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B2C Premium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18120" y="4672584"/>
            <a:ext cx="3383280" cy="128016"/>
          </a:xfrm>
          <a:prstGeom prst="rect">
            <a:avLst/>
          </a:prstGeom>
          <a:solidFill>
            <a:srgbClr val="1E2D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18120" y="4672584"/>
            <a:ext cx="2368296" cy="128016"/>
          </a:xfrm>
          <a:prstGeom prst="rect">
            <a:avLst/>
          </a:prstGeom>
          <a:solidFill>
            <a:srgbClr val="0066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247120" y="46177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D4FF"/>
                </a:solidFill>
              </a:rPr>
              <a:t>₹299/mo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029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B2B Hospital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18120" y="5084064"/>
            <a:ext cx="3383280" cy="128016"/>
          </a:xfrm>
          <a:prstGeom prst="rect">
            <a:avLst/>
          </a:prstGeom>
          <a:solidFill>
            <a:srgbClr val="1E2D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18120" y="5084064"/>
            <a:ext cx="3044952" cy="128016"/>
          </a:xfrm>
          <a:prstGeom prst="rect">
            <a:avLst/>
          </a:prstGeom>
          <a:solidFill>
            <a:srgbClr val="0066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247120" y="50292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D4FF"/>
                </a:solidFill>
              </a:rPr>
              <a:t>₹50L/yr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4406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B2B Insurance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18120" y="5495544"/>
            <a:ext cx="3383280" cy="128016"/>
          </a:xfrm>
          <a:prstGeom prst="rect">
            <a:avLst/>
          </a:prstGeom>
          <a:solidFill>
            <a:srgbClr val="1E2D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18120" y="5495544"/>
            <a:ext cx="2706624" cy="128016"/>
          </a:xfrm>
          <a:prstGeom prst="rect">
            <a:avLst/>
          </a:prstGeom>
          <a:solidFill>
            <a:srgbClr val="0066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247120" y="5440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D4FF"/>
                </a:solidFill>
              </a:rPr>
              <a:t>₹2 PMPM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8521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API Platform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18120" y="5907024"/>
            <a:ext cx="3383280" cy="128016"/>
          </a:xfrm>
          <a:prstGeom prst="rect">
            <a:avLst/>
          </a:prstGeom>
          <a:solidFill>
            <a:srgbClr val="1E2D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818120" y="5907024"/>
            <a:ext cx="1691640" cy="128016"/>
          </a:xfrm>
          <a:prstGeom prst="rect">
            <a:avLst/>
          </a:prstGeom>
          <a:solidFill>
            <a:srgbClr val="0066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247120" y="58521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D4FF"/>
                </a:solidFill>
              </a:rPr>
              <a:t>$0.05/call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2011680" cy="274320"/>
          </a:xfrm>
          <a:prstGeom prst="rect">
            <a:avLst/>
          </a:prstGeom>
          <a:solidFill>
            <a:srgbClr val="002A55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97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4FF"/>
                </a:solidFill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Built, deployed, and validated
in production.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Full-stack MVP live in 8 weeks. 25 API endpoints. Waiting for users — not engineers.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57400"/>
            <a:ext cx="2651760" cy="1143000"/>
          </a:xfrm>
          <a:prstGeom prst="rect">
            <a:avLst/>
          </a:prstGeom>
          <a:solidFill>
            <a:srgbClr val="0D1730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66FF"/>
                </a:solidFill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072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Live API Endpoints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057400"/>
            <a:ext cx="2651760" cy="1143000"/>
          </a:xfrm>
          <a:prstGeom prst="rect">
            <a:avLst/>
          </a:prstGeom>
          <a:solidFill>
            <a:srgbClr val="0D1730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2402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D4FF"/>
                </a:solidFill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8072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AI Features Shipped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057400"/>
            <a:ext cx="2651760" cy="1143000"/>
          </a:xfrm>
          <a:prstGeom prst="rect">
            <a:avLst/>
          </a:prstGeom>
          <a:solidFill>
            <a:srgbClr val="0D1730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2402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E5A0"/>
                </a:solidFill>
              </a:rPr>
              <a:t>8wk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8072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MVP Build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2057400"/>
            <a:ext cx="2651760" cy="1143000"/>
          </a:xfrm>
          <a:prstGeom prst="rect">
            <a:avLst/>
          </a:prstGeom>
          <a:solidFill>
            <a:srgbClr val="0D1730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22402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7C3AED"/>
                </a:solidFill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8072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Vendor Lock-in*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5669280" cy="3108960"/>
          </a:xfrm>
          <a:prstGeom prst="rect">
            <a:avLst/>
          </a:prstGeom>
          <a:solidFill>
            <a:srgbClr val="0D1730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49300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What's Live Today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858768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Complete user auth + family graph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187952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Smart OCR: Claude Vision → structured biomarkers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517136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Two-stage RAG chat (pgvector + full-text search)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846320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Health scoring across 6 organ systems (0–100)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175504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Predictive alert engine with risk categorization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504688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Emergency QR Passport (public, no-auth endpoint)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833872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Doctor pre-consultation AI summary generator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163056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Medicine intelligence + biomarker correlation engine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383280"/>
            <a:ext cx="5486400" cy="3108960"/>
          </a:xfrm>
          <a:prstGeom prst="rect">
            <a:avLst/>
          </a:prstGeom>
          <a:solidFill>
            <a:srgbClr val="0D1730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49300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A0"/>
                </a:solidFill>
              </a:rPr>
              <a:t>Tech Stack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858768"/>
            <a:ext cx="5120640" cy="365760"/>
          </a:xfrm>
          <a:prstGeom prst="rect">
            <a:avLst/>
          </a:prstGeom>
          <a:solidFill>
            <a:srgbClr val="0F1D38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3904487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FastAPI  ·  PostgreSQL 16  ·  pgvector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352544"/>
            <a:ext cx="5120640" cy="365760"/>
          </a:xfrm>
          <a:prstGeom prst="rect">
            <a:avLst/>
          </a:prstGeom>
          <a:solidFill>
            <a:srgbClr val="0F1D38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43982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Redis  ·  SQLAlchemy 2.0  ·  Docker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846320"/>
            <a:ext cx="5120640" cy="365760"/>
          </a:xfrm>
          <a:prstGeom prst="rect">
            <a:avLst/>
          </a:prstGeom>
          <a:solidFill>
            <a:srgbClr val="0F1D38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48920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Claude API (claude-sonnet-4-6)  ·  OpenAI fallback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5340096"/>
            <a:ext cx="5120640" cy="365760"/>
          </a:xfrm>
          <a:prstGeom prst="rect">
            <a:avLst/>
          </a:prstGeom>
          <a:solidFill>
            <a:srgbClr val="0F1D38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538581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React 18  ·  TypeScript  ·  Tailwind CSS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5833872"/>
            <a:ext cx="5120640" cy="365760"/>
          </a:xfrm>
          <a:prstGeom prst="rect">
            <a:avLst/>
          </a:prstGeom>
          <a:solidFill>
            <a:srgbClr val="0F1D38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58795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Zustand  ·  React Query  ·  Framer Motion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2011680" cy="274320"/>
          </a:xfrm>
          <a:prstGeom prst="rect">
            <a:avLst/>
          </a:prstGeom>
          <a:solidFill>
            <a:srgbClr val="002A55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97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4FF"/>
                </a:solidFill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Three revenue streams.
One platform moat.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Freemium consumer base feeds premium B2B data insights. Network effects increase with every record uploaded.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57400"/>
            <a:ext cx="3657600" cy="3474720"/>
          </a:xfrm>
          <a:prstGeom prst="rect">
            <a:avLst/>
          </a:prstGeom>
          <a:solidFill>
            <a:srgbClr val="0D1730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762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5176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B2C Consumer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443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₹99–₹499/mo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45643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→  Free: 10 records, 5 AI queries/mo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404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→  Pro: Unlimited + family (5 members)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2452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→  Premium: API access + priority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057400"/>
            <a:ext cx="3657600" cy="3474720"/>
          </a:xfrm>
          <a:prstGeom prst="rect">
            <a:avLst/>
          </a:prstGeom>
          <a:solidFill>
            <a:srgbClr val="0D1730"/>
          </a:solidFill>
          <a:ln w="1524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1762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65176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6FF"/>
                </a:solidFill>
              </a:rPr>
              <a:t>B2B Healthcare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9443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₹25L–₹75L/yr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45643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→  Hospital EMR integration module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8404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→  Population health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22452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→  Pre-consultation AI summaries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60857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→  Anonymous aggregate insights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2057400"/>
            <a:ext cx="3657600" cy="3474720"/>
          </a:xfrm>
          <a:prstGeom prst="rect">
            <a:avLst/>
          </a:prstGeom>
          <a:solidFill>
            <a:srgbClr val="0D1730"/>
          </a:solidFill>
          <a:ln w="1524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21762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65176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A0"/>
                </a:solidFill>
              </a:rPr>
              <a:t>B2B Insurance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9443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₹2–₹5 PMPM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45643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→  Risk stratification for underwriting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8404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→  Preventive care incentive programs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22452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→  Claims fraud detection 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60857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→  Wellness program engagement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715000"/>
            <a:ext cx="11430000" cy="777240"/>
          </a:xfrm>
          <a:prstGeom prst="rect">
            <a:avLst/>
          </a:prstGeom>
          <a:solidFill>
            <a:srgbClr val="071228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5742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</a:rPr>
              <a:t>8x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61081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Target LTV/CAC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5742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</a:rPr>
              <a:t>18mo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61081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Consumer Payback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742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</a:rPr>
              <a:t>73%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61081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Gross Margin Target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5742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</a:rPr>
              <a:t>24mo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61081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Path to Profitability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2011680" cy="274320"/>
          </a:xfrm>
          <a:prstGeom prst="rect">
            <a:avLst/>
          </a:prstGeom>
          <a:solidFill>
            <a:srgbClr val="002A55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97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4FF"/>
                </a:solidFill>
              </a:rP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We don't compete with apps.
We make them obsolete.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Existing players are document managers. HealthWeave is a reasoning engine. Fundamentally different category.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03120"/>
            <a:ext cx="11521440" cy="347472"/>
          </a:xfrm>
          <a:prstGeom prst="rect">
            <a:avLst/>
          </a:prstGeom>
          <a:solidFill>
            <a:srgbClr val="0F1D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21305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9232" y="213055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HealthWeave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213055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ABHA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33872" y="213055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Practo/1mg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8352" y="213055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Apple Health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42832" y="213055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Epic MyChart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87168"/>
            <a:ext cx="11521440" cy="402336"/>
          </a:xfrm>
          <a:prstGeom prst="rect">
            <a:avLst/>
          </a:prstGeom>
          <a:solidFill>
            <a:srgbClr val="0D173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255117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Document 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551176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55117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E5A0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3872" y="2551176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E5A0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8352" y="2551176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E5A0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2832" y="2551176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E5A0"/>
                </a:solidFill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907792"/>
            <a:ext cx="11521440" cy="402336"/>
          </a:xfrm>
          <a:prstGeom prst="rect">
            <a:avLst/>
          </a:prstGeom>
          <a:solidFill>
            <a:srgbClr val="0A0E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29718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AI-Powered Chat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9232" y="297180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297180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3872" y="297180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~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8352" y="297180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832" y="297180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328416"/>
            <a:ext cx="11521440" cy="402336"/>
          </a:xfrm>
          <a:prstGeom prst="rect">
            <a:avLst/>
          </a:prstGeom>
          <a:solidFill>
            <a:srgbClr val="0D173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339242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Biomarker Correlation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99232" y="3392424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339242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3872" y="3392424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3392424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42832" y="3392424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749040"/>
            <a:ext cx="11521440" cy="402336"/>
          </a:xfrm>
          <a:prstGeom prst="rect">
            <a:avLst/>
          </a:prstGeom>
          <a:solidFill>
            <a:srgbClr val="0A0E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38130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Predictive Alerts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99232" y="381304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3712" y="381304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3872" y="381304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88352" y="381304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~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42832" y="381304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169664"/>
            <a:ext cx="11521440" cy="402336"/>
          </a:xfrm>
          <a:prstGeom prst="rect">
            <a:avLst/>
          </a:prstGeom>
          <a:solidFill>
            <a:srgbClr val="0D173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423367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OCR from Photos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99232" y="423367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423367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33872" y="423367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88352" y="423367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42832" y="423367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590288"/>
            <a:ext cx="11521440" cy="402336"/>
          </a:xfrm>
          <a:prstGeom prst="rect">
            <a:avLst/>
          </a:prstGeom>
          <a:solidFill>
            <a:srgbClr val="0A0E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" y="46542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Emergency Passport (QR)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99232" y="4654296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53712" y="465429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~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33872" y="4654296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88352" y="4654296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42832" y="4654296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5010912"/>
            <a:ext cx="11521440" cy="402336"/>
          </a:xfrm>
          <a:prstGeom prst="rect">
            <a:avLst/>
          </a:prstGeom>
          <a:solidFill>
            <a:srgbClr val="0D173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8912" y="50749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Doctor AI Summary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99232" y="507492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53712" y="507492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33872" y="507492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88352" y="507492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42832" y="507492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~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5431536"/>
            <a:ext cx="11521440" cy="402336"/>
          </a:xfrm>
          <a:prstGeom prst="rect">
            <a:avLst/>
          </a:prstGeom>
          <a:solidFill>
            <a:srgbClr val="0A0E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8912" y="549554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Family Graph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99232" y="5495544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</a:rP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53712" y="549554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33872" y="5495544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~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88352" y="5495544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42832" y="5495544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5852160"/>
            <a:ext cx="11521440" cy="402336"/>
          </a:xfrm>
          <a:prstGeom prst="rect">
            <a:avLst/>
          </a:prstGeom>
          <a:solidFill>
            <a:srgbClr val="0D173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8912" y="59161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India Lab Aliases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999232" y="59161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</a:rP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53712" y="591616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~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33872" y="59161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~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88352" y="59161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42832" y="59161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2011680" cy="274320"/>
          </a:xfrm>
          <a:prstGeom prst="rect">
            <a:avLst/>
          </a:prstGeom>
          <a:solidFill>
            <a:srgbClr val="002A55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97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4FF"/>
                </a:solidFill>
              </a:rPr>
              <a:t>DEFENSIBILITY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Four compounding moats that
deepen with every user.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57400"/>
            <a:ext cx="5577840" cy="2103120"/>
          </a:xfrm>
          <a:prstGeom prst="rect">
            <a:avLst/>
          </a:prstGeom>
          <a:solidFill>
            <a:srgbClr val="0D1730"/>
          </a:solidFill>
          <a:ln w="1524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2199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706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6FF"/>
                </a:solidFill>
              </a:rPr>
              <a:t>Data Moat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81528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Each uploaded record trains our medical ontology and India-specific biomarker reference ranges. Proprietary dataset of Indian lab name aliases (40+ dialects) that no competitor can replicate without years of data collection.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057400"/>
            <a:ext cx="5577840" cy="2103120"/>
          </a:xfrm>
          <a:prstGeom prst="rect">
            <a:avLst/>
          </a:prstGeom>
          <a:solidFill>
            <a:srgbClr val="0D1730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2199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706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Network Moat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81528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Family graph creates multi-user lock-in. When a parent, spouse, and two children are all on HealthWeave, leaving means losing your entire family health network. Social sharing of health milestones drives organic growth.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434840"/>
            <a:ext cx="5577840" cy="2103120"/>
          </a:xfrm>
          <a:prstGeom prst="rect">
            <a:avLst/>
          </a:prstGeom>
          <a:solidFill>
            <a:srgbClr val="0D1730"/>
          </a:solidFill>
          <a:ln w="1524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9943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4807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A0"/>
                </a:solidFill>
              </a:rPr>
              <a:t>Time 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58968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The longer you use HealthWeave, the more valuable it becomes. After 3 years of records, the correlation engine has 36x more signal than month 1. Switching cost grows geometrically — your history is irreplaceable.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434840"/>
            <a:ext cx="5577840" cy="2103120"/>
          </a:xfrm>
          <a:prstGeom prst="rect">
            <a:avLst/>
          </a:prstGeom>
          <a:solidFill>
            <a:srgbClr val="0D1730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59943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14807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</a:rPr>
              <a:t>Distribution Moat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458968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Hospital partnerships create institutional lock-in. Once 50 hospitals use our Doctor Summary API, their patients will naturally use HealthWeave. B2B distribution creates thousands of B2C users per partnership.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2011680" cy="274320"/>
          </a:xfrm>
          <a:prstGeom prst="rect">
            <a:avLst/>
          </a:prstGeom>
          <a:solidFill>
            <a:srgbClr val="002A55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97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4FF"/>
                </a:solidFill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Hyderabad → Bangalore → India.
Hospital-led consumer acquisition.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411480" cy="411480"/>
          </a:xfrm>
          <a:prstGeom prst="rect">
            <a:avLst/>
          </a:prstGeom>
          <a:solidFill>
            <a:srgbClr val="0066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25400" cy="685800"/>
          </a:xfrm>
          <a:prstGeom prst="rect">
            <a:avLst/>
          </a:prstGeom>
          <a:solidFill>
            <a:srgbClr val="1E2D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2140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Q1–Q2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591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Hyderabad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35915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A0"/>
                </a:solidFill>
              </a:rPr>
              <a:t>3 hospitals · 500 users · NPS &gt; 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517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Partner with 3 mid-sized multispeciality hospitals. Doctor summary API integration. Patient onboarding at discharge.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00400"/>
            <a:ext cx="411480" cy="411480"/>
          </a:xfrm>
          <a:prstGeom prst="rect">
            <a:avLst/>
          </a:prstGeom>
          <a:solidFill>
            <a:srgbClr val="0066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611880"/>
            <a:ext cx="25400" cy="685800"/>
          </a:xfrm>
          <a:prstGeom prst="rect">
            <a:avLst/>
          </a:prstGeom>
          <a:solidFill>
            <a:srgbClr val="1E2D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2186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Q3–Q4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45643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South India Expansion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4564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A0"/>
                </a:solidFill>
              </a:rPr>
              <a:t>20 hospitals · 10K users · ₹10L MRR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7490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Bangalore, Chennai expansion. Insurance company pilots. App store optimization + health creator partnerships.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97679"/>
            <a:ext cx="411480" cy="411480"/>
          </a:xfrm>
          <a:prstGeom prst="rect">
            <a:avLst/>
          </a:prstGeom>
          <a:solidFill>
            <a:srgbClr val="0066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2976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709159"/>
            <a:ext cx="25400" cy="685800"/>
          </a:xfrm>
          <a:prstGeom prst="rect">
            <a:avLst/>
          </a:prstGeom>
          <a:solidFill>
            <a:srgbClr val="1E2D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315967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55371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Pan-India 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455371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A0"/>
                </a:solidFill>
              </a:rPr>
              <a:t>100 hospitals · 100K users · ₹1Cr MRR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84631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Series A raise. Mumbai, Delhi, Pune. ABDM integration. Insurance API partnerships.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394959"/>
            <a:ext cx="411480" cy="411480"/>
          </a:xfrm>
          <a:prstGeom prst="rect">
            <a:avLst/>
          </a:prstGeom>
          <a:solidFill>
            <a:srgbClr val="0066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39495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413247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2028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6509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International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565099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A0"/>
                </a:solidFill>
              </a:rPr>
              <a:t>SE Asia + Middle East · Series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94359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Singapore, UAE, Malaysia. Diaspora Indian population. Platform APIs for third-party developers.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2011680"/>
            <a:ext cx="3657600" cy="2377440"/>
          </a:xfrm>
          <a:prstGeom prst="rect">
            <a:avLst/>
          </a:prstGeom>
          <a:solidFill>
            <a:srgbClr val="0D1730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212140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Acquisition Channels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4871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Hospital Referral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38360" y="2542032"/>
            <a:ext cx="1554480" cy="128016"/>
          </a:xfrm>
          <a:prstGeom prst="rect">
            <a:avLst/>
          </a:prstGeom>
          <a:solidFill>
            <a:srgbClr val="1E2D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738360" y="2542032"/>
            <a:ext cx="1321308" cy="128016"/>
          </a:xfrm>
          <a:prstGeom prst="rect">
            <a:avLst/>
          </a:prstGeom>
          <a:solidFill>
            <a:srgbClr val="0066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338560" y="24871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D4FF"/>
                </a:solidFill>
              </a:rPr>
              <a:t>40%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29443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Organic / SEO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38360" y="2999232"/>
            <a:ext cx="1554480" cy="128016"/>
          </a:xfrm>
          <a:prstGeom prst="rect">
            <a:avLst/>
          </a:prstGeom>
          <a:solidFill>
            <a:srgbClr val="1E2D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738360" y="2999232"/>
            <a:ext cx="777240" cy="128016"/>
          </a:xfrm>
          <a:prstGeom prst="rect">
            <a:avLst/>
          </a:prstGeom>
          <a:solidFill>
            <a:srgbClr val="0066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338560" y="29443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D4FF"/>
                </a:solidFill>
              </a:rPr>
              <a:t>25%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34015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Doctor Referral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38360" y="3456432"/>
            <a:ext cx="1554480" cy="128016"/>
          </a:xfrm>
          <a:prstGeom prst="rect">
            <a:avLst/>
          </a:prstGeom>
          <a:solidFill>
            <a:srgbClr val="1E2D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738360" y="3456432"/>
            <a:ext cx="621792" cy="128016"/>
          </a:xfrm>
          <a:prstGeom prst="rect">
            <a:avLst/>
          </a:prstGeom>
          <a:solidFill>
            <a:srgbClr val="0066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338560" y="34015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D4FF"/>
                </a:solidFill>
              </a:rPr>
              <a:t>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38587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Social / Creator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738360" y="3913632"/>
            <a:ext cx="1554480" cy="128016"/>
          </a:xfrm>
          <a:prstGeom prst="rect">
            <a:avLst/>
          </a:prstGeom>
          <a:solidFill>
            <a:srgbClr val="1E2D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738360" y="3913632"/>
            <a:ext cx="466344" cy="128016"/>
          </a:xfrm>
          <a:prstGeom prst="rect">
            <a:avLst/>
          </a:prstGeom>
          <a:solidFill>
            <a:srgbClr val="0066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338560" y="38587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D4FF"/>
                </a:solidFill>
              </a:rPr>
              <a:t>15%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4572000"/>
            <a:ext cx="3657600" cy="1920240"/>
          </a:xfrm>
          <a:prstGeom prst="rect">
            <a:avLst/>
          </a:prstGeom>
          <a:solidFill>
            <a:srgbClr val="0D1730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66760" y="468172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A0"/>
                </a:solidFill>
              </a:rPr>
              <a:t>Hospital Value Prop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5047488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Saves doctors 8 min/patient pre-visit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5394959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Reduces readmission with engagement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5742431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Department-level analytics dashboard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6089904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Co-branded subscription revenue share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2011680" cy="274320"/>
          </a:xfrm>
          <a:prstGeom prst="rect">
            <a:avLst/>
          </a:prstGeom>
          <a:solidFill>
            <a:srgbClr val="002A55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97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4FF"/>
                </a:solidFill>
              </a:rPr>
              <a:t>FINANCIAL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Conservative path to ₹10Cr ARR
in 24 months.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Bottom-up model: hospital B2B anchor + freemium consumer conversion at 2%.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16475"/>
            <a:ext cx="1280160" cy="38404"/>
          </a:xfrm>
          <a:prstGeom prst="rect">
            <a:avLst/>
          </a:prstGeom>
          <a:solidFill>
            <a:srgbClr val="0066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396435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66FF"/>
                </a:solidFill>
              </a:rPr>
              <a:t>₹0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2803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Q4'25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4678070"/>
            <a:ext cx="1280160" cy="76809"/>
          </a:xfrm>
          <a:prstGeom prst="rect">
            <a:avLst/>
          </a:prstGeom>
          <a:solidFill>
            <a:srgbClr val="0066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435803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66FF"/>
                </a:solidFill>
              </a:rPr>
              <a:t>₹30L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482803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Q2'26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4396435"/>
            <a:ext cx="1280160" cy="358444"/>
          </a:xfrm>
          <a:prstGeom prst="rect">
            <a:avLst/>
          </a:prstGeom>
          <a:solidFill>
            <a:srgbClr val="00D4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4076395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</a:rPr>
              <a:t>₹1.2Cr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82803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Q4'26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2194560"/>
            <a:ext cx="1280160" cy="2560320"/>
          </a:xfrm>
          <a:prstGeom prst="rect">
            <a:avLst/>
          </a:prstGeom>
          <a:solidFill>
            <a:srgbClr val="00E5A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7452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E5A0"/>
                </a:solidFill>
              </a:rPr>
              <a:t>₹10Cr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82803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Q4'27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011680"/>
            <a:ext cx="5486400" cy="4206240"/>
          </a:xfrm>
          <a:prstGeom prst="rect">
            <a:avLst/>
          </a:prstGeom>
          <a:solidFill>
            <a:srgbClr val="0D1730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12140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Revenue Milestones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2578608"/>
            <a:ext cx="5212080" cy="868680"/>
          </a:xfrm>
          <a:prstGeom prst="rect">
            <a:avLst/>
          </a:prstGeom>
          <a:solidFill>
            <a:srgbClr val="0F1D38"/>
          </a:solidFill>
          <a:ln w="9525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26517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Year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9260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6FF"/>
                </a:solidFill>
              </a:rPr>
              <a:t>₹30L ARR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8529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</a:rPr>
              <a:t>500 users · 3 hospitals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3538728"/>
            <a:ext cx="5212080" cy="868680"/>
          </a:xfrm>
          <a:prstGeom prst="rect">
            <a:avLst/>
          </a:prstGeom>
          <a:solidFill>
            <a:srgbClr val="0F1D38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3611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Year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8862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FF"/>
                </a:solidFill>
              </a:rPr>
              <a:t>₹1.2Cr ARR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8130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</a:rPr>
              <a:t>10K users · 20 hospitals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4498848"/>
            <a:ext cx="5212080" cy="868680"/>
          </a:xfrm>
          <a:prstGeom prst="rect">
            <a:avLst/>
          </a:prstGeom>
          <a:solidFill>
            <a:srgbClr val="0F1D38"/>
          </a:solidFill>
          <a:ln w="9525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45720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Year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8463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E5A0"/>
                </a:solidFill>
              </a:rPr>
              <a:t>₹10Cr ARR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47731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</a:rPr>
              <a:t>100K users · 100 hospitals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5778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Key Assumptions: 2% freemium→paid conversion · ₹75L/yr avg hospital contract · 60% gross margin at scale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2011680" cy="274320"/>
          </a:xfrm>
          <a:prstGeom prst="rect">
            <a:avLst/>
          </a:prstGeom>
          <a:solidFill>
            <a:srgbClr val="002A55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97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4FF"/>
                </a:solidFill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Raising $1.5M Seed Round
to capture the market window.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12 months of focused execution to prove hospital-led B2B2C model and hit Series A metrics.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7498079" cy="868680"/>
          </a:xfrm>
          <a:prstGeom prst="rect">
            <a:avLst/>
          </a:prstGeom>
          <a:solidFill>
            <a:srgbClr val="0D1730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94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Team (40%)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4203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Senior AI/ML engineer, backend lead,
mobile engineer, medical advisor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00D4FF"/>
                </a:solidFill>
              </a:rPr>
              <a:t>$600K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08960"/>
            <a:ext cx="7498079" cy="868680"/>
          </a:xfrm>
          <a:prstGeom prst="rect">
            <a:avLst/>
          </a:prstGeom>
          <a:solidFill>
            <a:srgbClr val="0D1730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918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Hospital Partnerships (20%)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54787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Integration costs, medical advisory board,
DPDP regulatory compliance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2918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00D4FF"/>
                </a:solidFill>
              </a:rPr>
              <a:t>$300K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14800"/>
            <a:ext cx="7498079" cy="868680"/>
          </a:xfrm>
          <a:prstGeom prst="rect">
            <a:avLst/>
          </a:prstGeom>
          <a:solidFill>
            <a:srgbClr val="0D1730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2976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206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Product &amp; Mobile (20%)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5371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Native iOS/Android apps, offline mode,
WhatsApp bot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2976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00D4FF"/>
                </a:solidFill>
              </a:rPr>
              <a:t>$300K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20640"/>
            <a:ext cx="7498079" cy="868680"/>
          </a:xfrm>
          <a:prstGeom prst="rect">
            <a:avLst/>
          </a:prstGeom>
          <a:solidFill>
            <a:srgbClr val="0D1730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3035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212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GTM &amp; Operations (20%)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55955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Sales, marketing, infrastructure,
legal, compliance, working capital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303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00D4FF"/>
                </a:solidFill>
              </a:rPr>
              <a:t>$300K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2057400"/>
            <a:ext cx="3657600" cy="4709160"/>
          </a:xfrm>
          <a:prstGeom prst="rect">
            <a:avLst/>
          </a:prstGeom>
          <a:solidFill>
            <a:srgbClr val="071228"/>
          </a:solidFill>
          <a:ln w="1524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21762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Series A Milestones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57860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₹1.2Cr ARR (10 hospital contracts)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0175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10,000 active premium consumers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45643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NPS &gt; 65 from patients &amp; doctors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389534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DPDP compliance certification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33425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iOS + Android apps launched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7731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Insurance company pilot signed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5257800"/>
            <a:ext cx="3657600" cy="1234440"/>
          </a:xfrm>
          <a:prstGeom prst="rect">
            <a:avLst/>
          </a:prstGeom>
          <a:solidFill>
            <a:srgbClr val="071228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537667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Target Series 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5623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</a:rPr>
              <a:t>$8–12M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608076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At 8-10x ARR · 18 months away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2011680" cy="274320"/>
          </a:xfrm>
          <a:prstGeom prst="rect">
            <a:avLst/>
          </a:prstGeom>
          <a:solidFill>
            <a:srgbClr val="002A55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97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4FF"/>
                </a:solidFill>
              </a:rP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Builders who understand healthcare
from the inside.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A rare combination of deep AI engineering, clinical domain knowledge, and enterprise GTM experience.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57400"/>
            <a:ext cx="3657600" cy="3108960"/>
          </a:xfrm>
          <a:prstGeom prst="rect">
            <a:avLst/>
          </a:prstGeom>
          <a:solidFill>
            <a:srgbClr val="0D1730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2194560"/>
            <a:ext cx="914400" cy="914400"/>
          </a:xfrm>
          <a:prstGeom prst="rect">
            <a:avLst/>
          </a:prstGeom>
          <a:solidFill>
            <a:srgbClr val="0066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19456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TG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186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Tridib Goswami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204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66FF"/>
                </a:solidFill>
              </a:rPr>
              <a:t>Founder &amp; CEO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22191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AI architect with 10+ years in enterprise software. Built HealthWeave MVP solo in 8 weeks using Claude AI. Deep expertise in RAG, vector DBs, and clinical data architecture.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057400"/>
            <a:ext cx="3657600" cy="3108960"/>
          </a:xfrm>
          <a:prstGeom prst="rect">
            <a:avLst/>
          </a:prstGeom>
          <a:solidFill>
            <a:srgbClr val="0D1730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0" y="2194560"/>
            <a:ext cx="914400" cy="914400"/>
          </a:xfrm>
          <a:prstGeom prst="rect">
            <a:avLst/>
          </a:prstGeom>
          <a:solidFill>
            <a:srgbClr val="00D4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219456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2186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Open · 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5204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Hiring: ML / Backend Lead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822191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Seeking: 5+ yrs ML engineering, FastAPI + vector DB experience, passion for healthcare AI. Competitive equity + salary. Funded role in seed round.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057400"/>
            <a:ext cx="3657600" cy="3108960"/>
          </a:xfrm>
          <a:prstGeom prst="rect">
            <a:avLst/>
          </a:prstGeom>
          <a:solidFill>
            <a:srgbClr val="0D1730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09760" y="2194560"/>
            <a:ext cx="914400" cy="914400"/>
          </a:xfrm>
          <a:prstGeom prst="rect">
            <a:avLst/>
          </a:prstGeom>
          <a:solidFill>
            <a:srgbClr val="7C3AE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219456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2186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Open · Advisor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5204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</a:rPr>
              <a:t>Hiring: Clinical Partner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822191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Seeking: MD/MBBS with digital health interest. Hospital dept head preferred. Advisory equity + patient engagement for pilot site. Clinical AI validation.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349240"/>
            <a:ext cx="11430000" cy="1188720"/>
          </a:xfrm>
          <a:prstGeom prst="rect">
            <a:avLst/>
          </a:prstGeom>
          <a:solidFill>
            <a:srgbClr val="071228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45896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A0"/>
                </a:solidFill>
              </a:rPr>
              <a:t>Why We Win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77900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First-principles AI — not prompt wrappers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79" y="577900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India-specific medical knowledge built 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577900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Hospital GTM from day one — not a pivot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19" y="577900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Full-stack: OCR → correlations → predictions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2011680" cy="274320"/>
          </a:xfrm>
          <a:prstGeom prst="rect">
            <a:avLst/>
          </a:prstGeom>
          <a:solidFill>
            <a:srgbClr val="002A55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97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4FF"/>
                </a:solidFill>
              </a:rPr>
              <a:t>COMPLIANCE &amp;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Enterprise-grade privacy and
compliance from day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Health data demands the highest standards. HealthWeave is architected to exceed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2651760" cy="4114800"/>
          </a:xfrm>
          <a:prstGeom prst="rect">
            <a:avLst/>
          </a:prstGeom>
          <a:solidFill>
            <a:srgbClr val="0D1730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2128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🇮🇳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249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6FF"/>
                </a:solidFill>
              </a:rPr>
              <a:t>DPDP Act 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9067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Purpose-limited data 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12463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User consent at every data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334256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Right to erasure built into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5604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Data localisation — India servers only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103120"/>
            <a:ext cx="2651760" cy="4114800"/>
          </a:xfrm>
          <a:prstGeom prst="rect">
            <a:avLst/>
          </a:prstGeom>
          <a:solidFill>
            <a:srgbClr val="0D173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2128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7249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Security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09067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AES-256 encryption at 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712463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TLS 1.3 in transit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4334256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JWT + refresh token rotation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95604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API rate limiting + abuse detection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103120"/>
            <a:ext cx="2651760" cy="4114800"/>
          </a:xfrm>
          <a:prstGeom prst="rect">
            <a:avLst/>
          </a:prstGeom>
          <a:solidFill>
            <a:srgbClr val="0D1730"/>
          </a:solidFill>
          <a:ln w="1270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2128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7249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A0"/>
                </a:solidFill>
              </a:rPr>
              <a:t>ABDM Ready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09067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ABHA ID integration planned Q3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712463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FHIR R4 data model alignment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334256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Health Locker consent framework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95604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Interoperability with NDHM ecosystem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0" y="2103120"/>
            <a:ext cx="2651760" cy="4114800"/>
          </a:xfrm>
          <a:prstGeom prst="rect">
            <a:avLst/>
          </a:prstGeom>
          <a:solidFill>
            <a:srgbClr val="0D17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98280" y="22128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⚖️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27249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Medical Disclaimers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309067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Every AI response includes disclaimer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712463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AI is supplementary — not diagnostic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4334256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Doctor consultation always recommended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495604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Audit log on all AI-generated outputs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914400"/>
            <a:ext cx="6858000" cy="5029200"/>
          </a:xfrm>
          <a:prstGeom prst="rect">
            <a:avLst/>
          </a:prstGeom>
          <a:solidFill>
            <a:srgbClr val="00103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Every human on Earth deserves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7276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D4FF"/>
                </a:solidFill>
              </a:rPr>
              <a:t>a lifelong health companion that never forgets.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3172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4A3B8"/>
                </a:solidFill>
              </a:rPr>
              <a:t>In 2035, HealthWeave will prevent more chronic diseases than any hospital system in Asia —
not by treating illness, but by making it predictable, and therefore preventable.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291840"/>
            <a:ext cx="2834640" cy="960120"/>
          </a:xfrm>
          <a:prstGeom prst="rect">
            <a:avLst/>
          </a:prstGeom>
          <a:solidFill>
            <a:srgbClr val="0D1730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337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D4FF"/>
                </a:solidFill>
              </a:rPr>
              <a:t>1B+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76732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Lives to Impact by 2035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3291840"/>
            <a:ext cx="2834640" cy="960120"/>
          </a:xfrm>
          <a:prstGeom prst="rect">
            <a:avLst/>
          </a:prstGeom>
          <a:solidFill>
            <a:srgbClr val="0D1730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3337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D4FF"/>
                </a:solidFill>
              </a:rPr>
              <a:t>$100B+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76732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Healthcare Spend to Prevent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3291840"/>
            <a:ext cx="2834640" cy="960120"/>
          </a:xfrm>
          <a:prstGeom prst="rect">
            <a:avLst/>
          </a:prstGeom>
          <a:solidFill>
            <a:srgbClr val="0D1730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3337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D4FF"/>
                </a:solidFill>
              </a:rPr>
              <a:t>10M+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76732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Diseases Caught Early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4480560"/>
            <a:ext cx="6400800" cy="1508760"/>
          </a:xfrm>
          <a:prstGeom prst="rect">
            <a:avLst/>
          </a:prstGeom>
          <a:solidFill>
            <a:srgbClr val="07122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46177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🧬  HealthWeave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501091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tridib.goswami@gmail.com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46177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D4FF"/>
                </a:solidFill>
              </a:rPr>
              <a:t>$1.5M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504748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Seed Round Open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Confidential · HealthWeave 2026 · For investor discussion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